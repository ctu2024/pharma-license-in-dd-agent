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sldIdLst>
    <p:sldId id="261" r:id="rId3"/>
    <p:sldId id="257" r:id="rId4"/>
    <p:sldId id="258" r:id="rId5"/>
    <p:sldId id="259" r:id="rId6"/>
    <p:sldId id="260"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g, Yan" userId="2f33b8ee-d671-48e5-b451-728cab5754fe" providerId="ADAL" clId="{BE6CB9EC-1C58-4994-83DC-9810BC298343}"/>
    <pc:docChg chg="modSld">
      <pc:chgData name="Ling, Yan" userId="2f33b8ee-d671-48e5-b451-728cab5754fe" providerId="ADAL" clId="{BE6CB9EC-1C58-4994-83DC-9810BC298343}" dt="2026-06-18T12:22:16.322" v="8" actId="113"/>
      <pc:docMkLst>
        <pc:docMk/>
      </pc:docMkLst>
      <pc:sldChg chg="modSp mod">
        <pc:chgData name="Ling, Yan" userId="2f33b8ee-d671-48e5-b451-728cab5754fe" providerId="ADAL" clId="{BE6CB9EC-1C58-4994-83DC-9810BC298343}" dt="2026-06-15T12:05:24.063" v="6" actId="113"/>
        <pc:sldMkLst>
          <pc:docMk/>
          <pc:sldMk cId="0" sldId="258"/>
        </pc:sldMkLst>
        <pc:spChg chg="mod">
          <ac:chgData name="Ling, Yan" userId="2f33b8ee-d671-48e5-b451-728cab5754fe" providerId="ADAL" clId="{BE6CB9EC-1C58-4994-83DC-9810BC298343}" dt="2026-06-15T12:05:24.063" v="6" actId="113"/>
          <ac:spMkLst>
            <pc:docMk/>
            <pc:sldMk cId="0" sldId="258"/>
            <ac:spMk id="5" creationId="{00000000-0000-0000-0000-000000000000}"/>
          </ac:spMkLst>
        </pc:spChg>
      </pc:sldChg>
      <pc:sldChg chg="modSp mod">
        <pc:chgData name="Ling, Yan" userId="2f33b8ee-d671-48e5-b451-728cab5754fe" providerId="ADAL" clId="{BE6CB9EC-1C58-4994-83DC-9810BC298343}" dt="2026-06-18T12:22:16.322" v="8" actId="113"/>
        <pc:sldMkLst>
          <pc:docMk/>
          <pc:sldMk cId="0" sldId="261"/>
        </pc:sldMkLst>
        <pc:spChg chg="mod">
          <ac:chgData name="Ling, Yan" userId="2f33b8ee-d671-48e5-b451-728cab5754fe" providerId="ADAL" clId="{BE6CB9EC-1C58-4994-83DC-9810BC298343}" dt="2026-06-18T12:22:16.322" v="8" actId="113"/>
          <ac:spMkLst>
            <pc:docMk/>
            <pc:sldMk cId="0" sldId="261"/>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27047D8-40E1-4634-8F8F-CE76F4A6FF60}"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CDF10-E59D-41A7-8B1E-105494BB2720}"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7047D8-40E1-4634-8F8F-CE76F4A6FF60}" type="datetimeFigureOut">
              <a:rPr lang="zh-CN" altLang="en-US" smtClean="0"/>
              <a:t>2026/6/18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3CDF10-E59D-41A7-8B1E-105494BB272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7047D8-40E1-4634-8F8F-CE76F4A6FF60}" type="datetimeFigureOut">
              <a:rPr lang="zh-CN" altLang="en-US" smtClean="0"/>
              <a:t>2026/6/18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3CDF10-E59D-41A7-8B1E-105494BB272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i.org/10.1016/j.crohns.2014.04.003" TargetMode="External"/><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746145" y="226578"/>
            <a:ext cx="11353857" cy="3723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indent="0" algn="l" defTabSz="914400" rtl="0" eaLnBrk="0" fontAlgn="base" latinLnBrk="0" hangingPunct="0">
              <a:lnSpc>
                <a:spcPct val="100000"/>
              </a:lnSpc>
              <a:spcBef>
                <a:spcPct val="0"/>
              </a:spcBef>
              <a:spcAft>
                <a:spcPct val="0"/>
              </a:spcAft>
              <a:buClrTx/>
              <a:buSzTx/>
              <a:buNone/>
            </a:pPr>
            <a:r>
              <a:rPr kumimoji="0" lang="en-US" altLang="zh-CN"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KV1.3 target tissue expression</a:t>
            </a:r>
          </a:p>
          <a:p>
            <a:pPr marR="0" lvl="0" indent="0" algn="l" defTabSz="914400" rtl="0" eaLnBrk="0" fontAlgn="base" latinLnBrk="0" hangingPunct="0">
              <a:lnSpc>
                <a:spcPct val="100000"/>
              </a:lnSpc>
              <a:spcBef>
                <a:spcPct val="0"/>
              </a:spcBef>
              <a:spcAft>
                <a:spcPct val="0"/>
              </a:spcAft>
              <a:buClrTx/>
              <a:buSzTx/>
              <a:buNone/>
            </a:pPr>
            <a:br>
              <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br>
            <a:r>
              <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In the colonic mucosa of active ulcerative colitis (UC), </a:t>
            </a:r>
            <a:r>
              <a:rPr kumimoji="0" lang="en-US" altLang="zh-CN"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KV1.3 is markedly upregulated and selectively expressed on infiltrating CD4</a:t>
            </a:r>
            <a:r>
              <a:rPr kumimoji="0" lang="en-US" altLang="zh-CN"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Cambria Math" panose="02040503050406030204" pitchFamily="18" charset="0"/>
              </a:rPr>
              <a:t>⁺</a:t>
            </a:r>
            <a:r>
              <a:rPr kumimoji="0" lang="en-US" altLang="zh-CN"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and CD8</a:t>
            </a:r>
            <a:r>
              <a:rPr kumimoji="0" lang="en-US" altLang="zh-CN"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Cambria Math" panose="02040503050406030204" pitchFamily="18" charset="0"/>
              </a:rPr>
              <a:t>⁺</a:t>
            </a:r>
            <a:r>
              <a:rPr kumimoji="0" lang="en-US" altLang="zh-CN"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T cells,</a:t>
            </a:r>
            <a:r>
              <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particularly within effector memory T cell (TEM)-like populations. Its expression levels correlate strongly with local TNF-α and IL-17A production as well as the severity of tissue inflammation. Notably, pharmacological blockade of KV1.3 in human primary T cells effectively suppresses the production of </a:t>
            </a:r>
            <a:r>
              <a:rPr kumimoji="0" lang="en-US" altLang="zh-CN"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IFN-γ, TNF-α, and IL-17A</a:t>
            </a:r>
            <a:r>
              <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Collectively, these data establish KV1.3 as both a candidate biomarker for mucosal inflammatory activity and a targeted immunomodulatory node. Its therapeutic potential lies in its ability to suppress excessive T-cell activation and cytokine output, rather than inducing broad-spectrum lymphocyte depletion.</a:t>
            </a:r>
            <a:br>
              <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br>
            <a:endParaRPr kumimoji="0" lang="en-US" altLang="zh-CN" sz="3600" b="0" i="0" u="none" strike="noStrike" cap="none" normalizeH="0" baseline="0" dirty="0">
              <a:ln>
                <a:noFill/>
              </a:ln>
              <a:solidFill>
                <a:schemeClr val="tx1"/>
              </a:solidFill>
              <a:effectLst/>
              <a:latin typeface="Arial" panose="020B0604020202020204" pitchFamily="34" charset="0"/>
            </a:endParaRPr>
          </a:p>
        </p:txBody>
      </p:sp>
      <p:pic>
        <p:nvPicPr>
          <p:cNvPr id="1025"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2554091" y="3142061"/>
            <a:ext cx="3104713" cy="354349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7757795" y="6596380"/>
            <a:ext cx="3313430" cy="275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DOI: </a:t>
            </a:r>
            <a:r>
              <a:rPr kumimoji="0" lang="en-US" altLang="zh-CN" sz="12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hlinkClick r:id="rId3"/>
              </a:rPr>
              <a:t>10.1016/j.crohns.2014.04.003</a:t>
            </a:r>
            <a:endParaRPr kumimoji="0" lang="en-US" altLang="zh-CN" sz="2000" b="0" i="0" u="none" strike="noStrike" cap="none" normalizeH="0" baseline="0" dirty="0">
              <a:ln>
                <a:noFill/>
              </a:ln>
              <a:solidFill>
                <a:schemeClr val="tx1"/>
              </a:solidFill>
              <a:effectLst/>
              <a:latin typeface="Arial" panose="020B0604020202020204" pitchFamily="34" charset="0"/>
            </a:endParaRPr>
          </a:p>
        </p:txBody>
      </p:sp>
      <p:pic>
        <p:nvPicPr>
          <p:cNvPr id="7" name="图片 6"/>
          <p:cNvPicPr>
            <a:picLocks noChangeAspect="1"/>
          </p:cNvPicPr>
          <p:nvPr/>
        </p:nvPicPr>
        <p:blipFill>
          <a:blip r:embed="rId4"/>
          <a:stretch>
            <a:fillRect/>
          </a:stretch>
        </p:blipFill>
        <p:spPr>
          <a:xfrm>
            <a:off x="6365210" y="3295683"/>
            <a:ext cx="2745320" cy="3170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242570" y="2190750"/>
          <a:ext cx="11617325" cy="4551045"/>
        </p:xfrm>
        <a:graphic>
          <a:graphicData uri="http://schemas.openxmlformats.org/drawingml/2006/table">
            <a:tbl>
              <a:tblPr firstRow="1" firstCol="1" bandRow="1">
                <a:tableStyleId>{5C22544A-7EE6-4342-B048-85BDC9FD1C3A}</a:tableStyleId>
              </a:tblPr>
              <a:tblGrid>
                <a:gridCol w="1153795">
                  <a:extLst>
                    <a:ext uri="{9D8B030D-6E8A-4147-A177-3AD203B41FA5}">
                      <a16:colId xmlns:a16="http://schemas.microsoft.com/office/drawing/2014/main" val="20000"/>
                    </a:ext>
                  </a:extLst>
                </a:gridCol>
                <a:gridCol w="3097530">
                  <a:extLst>
                    <a:ext uri="{9D8B030D-6E8A-4147-A177-3AD203B41FA5}">
                      <a16:colId xmlns:a16="http://schemas.microsoft.com/office/drawing/2014/main" val="20001"/>
                    </a:ext>
                  </a:extLst>
                </a:gridCol>
                <a:gridCol w="1565910">
                  <a:extLst>
                    <a:ext uri="{9D8B030D-6E8A-4147-A177-3AD203B41FA5}">
                      <a16:colId xmlns:a16="http://schemas.microsoft.com/office/drawing/2014/main" val="20002"/>
                    </a:ext>
                  </a:extLst>
                </a:gridCol>
                <a:gridCol w="177165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396365">
                  <a:extLst>
                    <a:ext uri="{9D8B030D-6E8A-4147-A177-3AD203B41FA5}">
                      <a16:colId xmlns:a16="http://schemas.microsoft.com/office/drawing/2014/main" val="20005"/>
                    </a:ext>
                  </a:extLst>
                </a:gridCol>
                <a:gridCol w="1351915">
                  <a:extLst>
                    <a:ext uri="{9D8B030D-6E8A-4147-A177-3AD203B41FA5}">
                      <a16:colId xmlns:a16="http://schemas.microsoft.com/office/drawing/2014/main" val="20006"/>
                    </a:ext>
                  </a:extLst>
                </a:gridCol>
              </a:tblGrid>
              <a:tr h="694690">
                <a:tc>
                  <a:txBody>
                    <a:bodyPr/>
                    <a:lstStyle/>
                    <a:p>
                      <a:pPr algn="ctr">
                        <a:lnSpc>
                          <a:spcPct val="115000"/>
                        </a:lnSpc>
                        <a:spcAft>
                          <a:spcPts val="800"/>
                        </a:spcAft>
                        <a:buNone/>
                      </a:pPr>
                      <a:r>
                        <a:rPr lang="en-US" sz="1400" kern="0" dirty="0">
                          <a:effectLst/>
                        </a:rPr>
                        <a:t>Drug Name</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400" kern="0" dirty="0">
                          <a:effectLst/>
                        </a:rPr>
                        <a:t>Disease</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400" kern="0">
                          <a:effectLst/>
                        </a:rPr>
                        <a:t>Research Institution</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400" kern="0">
                          <a:effectLst/>
                        </a:rPr>
                        <a:t>Latest Global Development Stage</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400" kern="0">
                          <a:effectLst/>
                        </a:rPr>
                        <a:t>Drug Category III</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400" kern="0" dirty="0">
                          <a:effectLst/>
                        </a:rPr>
                        <a:t>Drug Label</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400" kern="0">
                          <a:effectLst/>
                        </a:rPr>
                        <a:t>Country/Region of Origin</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extLst>
                  <a:ext uri="{0D108BD9-81ED-4DB2-BD59-A6C34878D82A}">
                    <a16:rowId xmlns:a16="http://schemas.microsoft.com/office/drawing/2014/main" val="10000"/>
                  </a:ext>
                </a:extLst>
              </a:tr>
              <a:tr h="624840">
                <a:tc>
                  <a:txBody>
                    <a:bodyPr/>
                    <a:lstStyle/>
                    <a:p>
                      <a:pPr algn="ctr">
                        <a:lnSpc>
                          <a:spcPct val="115000"/>
                        </a:lnSpc>
                        <a:spcAft>
                          <a:spcPts val="800"/>
                        </a:spcAft>
                        <a:buNone/>
                      </a:pPr>
                      <a:r>
                        <a:rPr lang="en-US" sz="1400" kern="0" dirty="0">
                          <a:effectLst/>
                        </a:rPr>
                        <a:t>YR-001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Atopic Dermatitis, Psoriasis, Alopecia (Differentiated Diseases)</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a:effectLst/>
                        </a:rPr>
                        <a:t>Yirui Pharma (Originator)</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a:effectLst/>
                        </a:rPr>
                        <a:t>Phase II Clinical (2024-03-13)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a:effectLst/>
                        </a:rPr>
                        <a:t>Small Molecule</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a:effectLst/>
                        </a:rPr>
                        <a:t>Differentiated Diseases</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China (Mainland)</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extLst>
                  <a:ext uri="{0D108BD9-81ED-4DB2-BD59-A6C34878D82A}">
                    <a16:rowId xmlns:a16="http://schemas.microsoft.com/office/drawing/2014/main" val="10001"/>
                  </a:ext>
                </a:extLst>
              </a:tr>
              <a:tr h="624840">
                <a:tc>
                  <a:txBody>
                    <a:bodyPr/>
                    <a:lstStyle/>
                    <a:p>
                      <a:pPr algn="ctr">
                        <a:lnSpc>
                          <a:spcPct val="115000"/>
                        </a:lnSpc>
                        <a:spcAft>
                          <a:spcPts val="800"/>
                        </a:spcAft>
                        <a:buNone/>
                      </a:pPr>
                      <a:r>
                        <a:rPr lang="en-US" sz="1400" kern="0">
                          <a:effectLst/>
                        </a:rPr>
                        <a:t>LY3972406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Plaque Psoriasis</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Eli Lilly (Top 20 MNC)</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Phase II Clinical (2023-12-20)</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a:effectLst/>
                        </a:rPr>
                        <a:t>Other</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a:effectLst/>
                        </a:rPr>
                        <a:t>Potential First-in-Class</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United States</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extLst>
                  <a:ext uri="{0D108BD9-81ED-4DB2-BD59-A6C34878D82A}">
                    <a16:rowId xmlns:a16="http://schemas.microsoft.com/office/drawing/2014/main" val="10002"/>
                  </a:ext>
                </a:extLst>
              </a:tr>
              <a:tr h="726440">
                <a:tc>
                  <a:txBody>
                    <a:bodyPr/>
                    <a:lstStyle/>
                    <a:p>
                      <a:pPr algn="ctr">
                        <a:lnSpc>
                          <a:spcPct val="115000"/>
                        </a:lnSpc>
                        <a:spcAft>
                          <a:spcPts val="800"/>
                        </a:spcAft>
                        <a:buNone/>
                      </a:pPr>
                      <a:r>
                        <a:rPr lang="en-US" sz="1400" kern="0">
                          <a:effectLst/>
                        </a:rPr>
                        <a:t>ZP9830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Autoimmune Diseases, </a:t>
                      </a:r>
                    </a:p>
                    <a:p>
                      <a:pPr algn="ctr">
                        <a:lnSpc>
                          <a:spcPct val="115000"/>
                        </a:lnSpc>
                        <a:spcAft>
                          <a:spcPts val="800"/>
                        </a:spcAft>
                        <a:buNone/>
                      </a:pPr>
                      <a:r>
                        <a:rPr lang="en-US" sz="1200" kern="0" dirty="0">
                          <a:effectLst/>
                        </a:rPr>
                        <a:t>Inflammatory Bowel Disease</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Zealand Pharma (Originator)</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Phase I Clinical</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a:effectLst/>
                        </a:rPr>
                        <a:t>Peptide</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N/A</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Europe</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extLst>
                  <a:ext uri="{0D108BD9-81ED-4DB2-BD59-A6C34878D82A}">
                    <a16:rowId xmlns:a16="http://schemas.microsoft.com/office/drawing/2014/main" val="10003"/>
                  </a:ext>
                </a:extLst>
              </a:tr>
              <a:tr h="1045210">
                <a:tc>
                  <a:txBody>
                    <a:bodyPr/>
                    <a:lstStyle/>
                    <a:p>
                      <a:pPr algn="ctr">
                        <a:lnSpc>
                          <a:spcPct val="115000"/>
                        </a:lnSpc>
                        <a:spcAft>
                          <a:spcPts val="800"/>
                        </a:spcAft>
                        <a:buNone/>
                      </a:pPr>
                      <a:r>
                        <a:rPr lang="en-US" sz="1400" kern="0">
                          <a:effectLst/>
                        </a:rPr>
                        <a:t>si-544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Atopic Dermatitis, Psoriatic Arthritis (Differentiated Diseases), Plaque Psoriasis, Cutaneous T-Cell Lymphoma (Differentiated Diseases)</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err="1">
                          <a:effectLst/>
                        </a:rPr>
                        <a:t>SelectIon</a:t>
                      </a:r>
                      <a:r>
                        <a:rPr lang="en-US" sz="1200" kern="0" dirty="0">
                          <a:effectLst/>
                        </a:rPr>
                        <a:t> (Originator)</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Phase I Clinical</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Peptide</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Differentiated Diseases</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United States</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extLst>
                  <a:ext uri="{0D108BD9-81ED-4DB2-BD59-A6C34878D82A}">
                    <a16:rowId xmlns:a16="http://schemas.microsoft.com/office/drawing/2014/main" val="10004"/>
                  </a:ext>
                </a:extLst>
              </a:tr>
              <a:tr h="835025">
                <a:tc>
                  <a:txBody>
                    <a:bodyPr/>
                    <a:lstStyle/>
                    <a:p>
                      <a:pPr algn="ctr">
                        <a:lnSpc>
                          <a:spcPct val="115000"/>
                        </a:lnSpc>
                        <a:spcAft>
                          <a:spcPts val="800"/>
                        </a:spcAft>
                        <a:buNone/>
                      </a:pPr>
                      <a:r>
                        <a:rPr lang="en-US" sz="1400" kern="0">
                          <a:effectLst/>
                        </a:rPr>
                        <a:t>DES-7114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Autoimmune Diseases</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a:effectLst/>
                        </a:rPr>
                        <a:t>Eli Lilly (Top 20 MNC); DESRES (Originator)</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Phase I Clinical</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Other</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N/A</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tc>
                  <a:txBody>
                    <a:bodyPr/>
                    <a:lstStyle/>
                    <a:p>
                      <a:pPr algn="ctr">
                        <a:lnSpc>
                          <a:spcPct val="115000"/>
                        </a:lnSpc>
                        <a:spcAft>
                          <a:spcPts val="800"/>
                        </a:spcAft>
                        <a:buNone/>
                      </a:pPr>
                      <a:r>
                        <a:rPr lang="en-US" sz="1200" kern="0" dirty="0">
                          <a:effectLst/>
                        </a:rPr>
                        <a:t>United States</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122555" marT="102235" marB="102235" anchor="b"/>
                </a:tc>
                <a:extLst>
                  <a:ext uri="{0D108BD9-81ED-4DB2-BD59-A6C34878D82A}">
                    <a16:rowId xmlns:a16="http://schemas.microsoft.com/office/drawing/2014/main" val="10005"/>
                  </a:ext>
                </a:extLst>
              </a:tr>
            </a:tbl>
          </a:graphicData>
        </a:graphic>
      </p:graphicFrame>
      <p:sp>
        <p:nvSpPr>
          <p:cNvPr id="6" name="文本框 5"/>
          <p:cNvSpPr txBox="1"/>
          <p:nvPr/>
        </p:nvSpPr>
        <p:spPr>
          <a:xfrm>
            <a:off x="331470" y="230505"/>
            <a:ext cx="11527790" cy="1604010"/>
          </a:xfrm>
          <a:prstGeom prst="rect">
            <a:avLst/>
          </a:prstGeom>
          <a:noFill/>
        </p:spPr>
        <p:txBody>
          <a:bodyPr wrap="square">
            <a:spAutoFit/>
          </a:bodyPr>
          <a:lstStyle/>
          <a:p>
            <a:pPr lvl="0">
              <a:lnSpc>
                <a:spcPct val="115000"/>
              </a:lnSpc>
              <a:spcAft>
                <a:spcPts val="800"/>
              </a:spcAft>
            </a:pP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Competitive landscape of KV1.3 targeting assets</a:t>
            </a:r>
          </a:p>
          <a:p>
            <a:pPr lvl="0">
              <a:lnSpc>
                <a:spcPct val="115000"/>
              </a:lnSpc>
              <a:spcAft>
                <a:spcPts val="800"/>
              </a:spcAft>
            </a:pPr>
            <a:endParaRPr lang="zh-CN" altLang="zh-CN" sz="2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buNone/>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 preclinical Kv1.3 program leverages a </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gut-restricted, high-selectivity small molecule design</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to specifically target pathogenic TEM cells in IBD, directly addressing the systemic exposure risks seen in legacy programs and positioning us to capture the first-mover advantage in oral immunotherapy for inflammatory bowel disease.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52284" y="416152"/>
            <a:ext cx="11051458" cy="5805805"/>
          </a:xfrm>
          <a:prstGeom prst="rect">
            <a:avLst/>
          </a:prstGeom>
          <a:noFill/>
        </p:spPr>
        <p:txBody>
          <a:bodyPr wrap="square">
            <a:spAutoFit/>
          </a:bodyPr>
          <a:lstStyle/>
          <a:p>
            <a:pPr lvl="0">
              <a:lnSpc>
                <a:spcPct val="115000"/>
              </a:lnSpc>
              <a:spcAft>
                <a:spcPts val="800"/>
              </a:spcAft>
            </a:pP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Safer than JAK inhibitors with  comparable  efficacy index.</a:t>
            </a:r>
          </a:p>
          <a:p>
            <a:pPr lvl="0">
              <a:lnSpc>
                <a:spcPct val="115000"/>
              </a:lnSpc>
              <a:spcAft>
                <a:spcPts val="800"/>
              </a:spcAft>
            </a:pPr>
            <a:endPar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buNone/>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 core advantage of this program lies in its extreme "</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gut-enriched, systemically stealthy" PK profile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in both rat and beagle models, drug concentrations in the colon and ileum are tens to hundreds of times higher than those in plasma</a:t>
            </a:r>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and are sustained well within the effective concentration window. Meanwhile, distribution to critical off-target organs such as the brain, heart, and spleen is negligible. This design—characterized by a high unbound tissue-to-plasma partition coefficient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K</a:t>
            </a:r>
            <a:r>
              <a:rPr lang="en-US" altLang="zh-CN" sz="1800" kern="100" baseline="-25000" dirty="0" err="1">
                <a:effectLst/>
                <a:latin typeface="等线" panose="02010600030101010101" pitchFamily="2" charset="-122"/>
                <a:ea typeface="等线" panose="02010600030101010101" pitchFamily="2" charset="-122"/>
                <a:cs typeface="Times New Roman" panose="02020603050405020304" pitchFamily="18" charset="0"/>
              </a:rPr>
              <a:t>p,uu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)—ensures localized immunomodulation strictly at the inflammatory site, fundamentally mitigating the risks of infection and cardiovascular events associated with the high systemic exposure of traditional immunosuppressants (e.g., JAK inhibitors).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buNone/>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Leveraging this unique PK profile, we have validated </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exceptional efficacy and speed of onset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in rat colitis models: following oral administration, the high local concentrations within the intestinal lamina propria (far exceeding the functional IC</a:t>
            </a:r>
            <a:r>
              <a:rPr lang="en-US" altLang="zh-CN" sz="1800" kern="100" baseline="-25000" dirty="0">
                <a:effectLst/>
                <a:latin typeface="等线" panose="02010600030101010101" pitchFamily="2" charset="-122"/>
                <a:ea typeface="等线" panose="02010600030101010101" pitchFamily="2" charset="-122"/>
                <a:cs typeface="Times New Roman" panose="02020603050405020304" pitchFamily="18" charset="0"/>
              </a:rPr>
              <a:t>50</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 pathogenic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a:t>
            </a:r>
            <a:r>
              <a:rPr lang="en-US" altLang="zh-CN" sz="1800" kern="100" baseline="-25000" dirty="0" err="1">
                <a:effectLst/>
                <a:latin typeface="等线" panose="02010600030101010101" pitchFamily="2" charset="-122"/>
                <a:ea typeface="等线" panose="02010600030101010101" pitchFamily="2" charset="-122"/>
                <a:cs typeface="Times New Roman" panose="02020603050405020304" pitchFamily="18" charset="0"/>
              </a:rPr>
              <a:t>EM</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cells</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rapidly translate into potent anti-inflammatory activity. This not only significantly reverses body weight loss and Disease Activity Index (DAI) scores  but also demonstrates superior improvement in colon shortening and histopathological damage compared to the marketed standards Tofacitinib and Ozanimod. These results prove that precise blockade of pathogenic effector memory T cells (T</a:t>
            </a:r>
            <a:r>
              <a:rPr lang="en-US" altLang="zh-CN" sz="1800" kern="100" baseline="-25000" dirty="0">
                <a:effectLst/>
                <a:latin typeface="等线" panose="02010600030101010101" pitchFamily="2" charset="-122"/>
                <a:ea typeface="等线" panose="02010600030101010101" pitchFamily="2" charset="-122"/>
                <a:cs typeface="Times New Roman" panose="02020603050405020304" pitchFamily="18" charset="0"/>
              </a:rPr>
              <a:t>EM</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can achieve mucosal healing that is non-inferior or even superior to standard therapies, delivered via a safer, gut-restricted modality.</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48000" y="3246792"/>
            <a:ext cx="6096000" cy="369332"/>
          </a:xfrm>
          <a:prstGeom prst="rect">
            <a:avLst/>
          </a:prstGeom>
          <a:noFill/>
        </p:spPr>
        <p:txBody>
          <a:bodyPr wrap="square">
            <a:spAutoFit/>
          </a:bodyPr>
          <a:lstStyle/>
          <a:p>
            <a:endParaRPr lang="zh-CN" altLang="en-US" dirty="0"/>
          </a:p>
        </p:txBody>
      </p:sp>
      <p:pic>
        <p:nvPicPr>
          <p:cNvPr id="7" name="图片 6"/>
          <p:cNvPicPr>
            <a:picLocks noChangeAspect="1"/>
          </p:cNvPicPr>
          <p:nvPr/>
        </p:nvPicPr>
        <p:blipFill>
          <a:blip r:embed="rId2"/>
          <a:stretch>
            <a:fillRect/>
          </a:stretch>
        </p:blipFill>
        <p:spPr>
          <a:xfrm>
            <a:off x="610235" y="472440"/>
            <a:ext cx="5650865" cy="2668270"/>
          </a:xfrm>
          <a:prstGeom prst="rect">
            <a:avLst/>
          </a:prstGeom>
        </p:spPr>
      </p:pic>
      <p:sp>
        <p:nvSpPr>
          <p:cNvPr id="9" name="文本框 8"/>
          <p:cNvSpPr txBox="1"/>
          <p:nvPr/>
        </p:nvSpPr>
        <p:spPr>
          <a:xfrm>
            <a:off x="3048000" y="3246792"/>
            <a:ext cx="6096000" cy="369332"/>
          </a:xfrm>
          <a:prstGeom prst="rect">
            <a:avLst/>
          </a:prstGeom>
          <a:noFill/>
        </p:spPr>
        <p:txBody>
          <a:bodyPr wrap="square">
            <a:spAutoFit/>
          </a:bodyPr>
          <a:lstStyle/>
          <a:p>
            <a:endParaRPr lang="zh-CN" altLang="en-US" dirty="0"/>
          </a:p>
        </p:txBody>
      </p:sp>
      <p:pic>
        <p:nvPicPr>
          <p:cNvPr id="11" name="图片 10"/>
          <p:cNvPicPr>
            <a:picLocks noChangeAspect="1"/>
          </p:cNvPicPr>
          <p:nvPr/>
        </p:nvPicPr>
        <p:blipFill>
          <a:blip r:embed="rId3"/>
          <a:stretch>
            <a:fillRect/>
          </a:stretch>
        </p:blipFill>
        <p:spPr>
          <a:xfrm>
            <a:off x="6968491" y="284675"/>
            <a:ext cx="4188542" cy="3144459"/>
          </a:xfrm>
          <a:prstGeom prst="rect">
            <a:avLst/>
          </a:prstGeom>
        </p:spPr>
      </p:pic>
      <p:pic>
        <p:nvPicPr>
          <p:cNvPr id="13" name="图片 12"/>
          <p:cNvPicPr>
            <a:picLocks noChangeAspect="1"/>
          </p:cNvPicPr>
          <p:nvPr/>
        </p:nvPicPr>
        <p:blipFill>
          <a:blip r:embed="rId4"/>
          <a:stretch>
            <a:fillRect/>
          </a:stretch>
        </p:blipFill>
        <p:spPr>
          <a:xfrm>
            <a:off x="1189211" y="2950275"/>
            <a:ext cx="3955477" cy="3732423"/>
          </a:xfrm>
          <a:prstGeom prst="rect">
            <a:avLst/>
          </a:prstGeom>
        </p:spPr>
      </p:pic>
      <p:pic>
        <p:nvPicPr>
          <p:cNvPr id="2" name="图片 1"/>
          <p:cNvPicPr>
            <a:picLocks noChangeAspect="1"/>
          </p:cNvPicPr>
          <p:nvPr/>
        </p:nvPicPr>
        <p:blipFill>
          <a:blip r:embed="rId5"/>
          <a:stretch>
            <a:fillRect/>
          </a:stretch>
        </p:blipFill>
        <p:spPr>
          <a:xfrm>
            <a:off x="7297923" y="3796986"/>
            <a:ext cx="4401626" cy="27954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508635" y="942975"/>
          <a:ext cx="11185525" cy="5527675"/>
        </p:xfrm>
        <a:graphic>
          <a:graphicData uri="http://schemas.openxmlformats.org/drawingml/2006/table">
            <a:tbl>
              <a:tblPr>
                <a:tableStyleId>{5C22544A-7EE6-4342-B048-85BDC9FD1C3A}</a:tableStyleId>
              </a:tblPr>
              <a:tblGrid>
                <a:gridCol w="1471295">
                  <a:extLst>
                    <a:ext uri="{9D8B030D-6E8A-4147-A177-3AD203B41FA5}">
                      <a16:colId xmlns:a16="http://schemas.microsoft.com/office/drawing/2014/main" val="20000"/>
                    </a:ext>
                  </a:extLst>
                </a:gridCol>
                <a:gridCol w="2063115">
                  <a:extLst>
                    <a:ext uri="{9D8B030D-6E8A-4147-A177-3AD203B41FA5}">
                      <a16:colId xmlns:a16="http://schemas.microsoft.com/office/drawing/2014/main" val="20001"/>
                    </a:ext>
                  </a:extLst>
                </a:gridCol>
                <a:gridCol w="509905">
                  <a:extLst>
                    <a:ext uri="{9D8B030D-6E8A-4147-A177-3AD203B41FA5}">
                      <a16:colId xmlns:a16="http://schemas.microsoft.com/office/drawing/2014/main" val="20002"/>
                    </a:ext>
                  </a:extLst>
                </a:gridCol>
                <a:gridCol w="509905">
                  <a:extLst>
                    <a:ext uri="{9D8B030D-6E8A-4147-A177-3AD203B41FA5}">
                      <a16:colId xmlns:a16="http://schemas.microsoft.com/office/drawing/2014/main" val="20003"/>
                    </a:ext>
                  </a:extLst>
                </a:gridCol>
                <a:gridCol w="510540">
                  <a:extLst>
                    <a:ext uri="{9D8B030D-6E8A-4147-A177-3AD203B41FA5}">
                      <a16:colId xmlns:a16="http://schemas.microsoft.com/office/drawing/2014/main" val="20004"/>
                    </a:ext>
                  </a:extLst>
                </a:gridCol>
                <a:gridCol w="509905">
                  <a:extLst>
                    <a:ext uri="{9D8B030D-6E8A-4147-A177-3AD203B41FA5}">
                      <a16:colId xmlns:a16="http://schemas.microsoft.com/office/drawing/2014/main" val="20005"/>
                    </a:ext>
                  </a:extLst>
                </a:gridCol>
                <a:gridCol w="509905">
                  <a:extLst>
                    <a:ext uri="{9D8B030D-6E8A-4147-A177-3AD203B41FA5}">
                      <a16:colId xmlns:a16="http://schemas.microsoft.com/office/drawing/2014/main" val="20006"/>
                    </a:ext>
                  </a:extLst>
                </a:gridCol>
                <a:gridCol w="509905">
                  <a:extLst>
                    <a:ext uri="{9D8B030D-6E8A-4147-A177-3AD203B41FA5}">
                      <a16:colId xmlns:a16="http://schemas.microsoft.com/office/drawing/2014/main" val="20007"/>
                    </a:ext>
                  </a:extLst>
                </a:gridCol>
                <a:gridCol w="509905">
                  <a:extLst>
                    <a:ext uri="{9D8B030D-6E8A-4147-A177-3AD203B41FA5}">
                      <a16:colId xmlns:a16="http://schemas.microsoft.com/office/drawing/2014/main" val="20008"/>
                    </a:ext>
                  </a:extLst>
                </a:gridCol>
                <a:gridCol w="510540">
                  <a:extLst>
                    <a:ext uri="{9D8B030D-6E8A-4147-A177-3AD203B41FA5}">
                      <a16:colId xmlns:a16="http://schemas.microsoft.com/office/drawing/2014/main" val="20009"/>
                    </a:ext>
                  </a:extLst>
                </a:gridCol>
                <a:gridCol w="510540">
                  <a:extLst>
                    <a:ext uri="{9D8B030D-6E8A-4147-A177-3AD203B41FA5}">
                      <a16:colId xmlns:a16="http://schemas.microsoft.com/office/drawing/2014/main" val="20010"/>
                    </a:ext>
                  </a:extLst>
                </a:gridCol>
                <a:gridCol w="509905">
                  <a:extLst>
                    <a:ext uri="{9D8B030D-6E8A-4147-A177-3AD203B41FA5}">
                      <a16:colId xmlns:a16="http://schemas.microsoft.com/office/drawing/2014/main" val="20011"/>
                    </a:ext>
                  </a:extLst>
                </a:gridCol>
                <a:gridCol w="509905">
                  <a:extLst>
                    <a:ext uri="{9D8B030D-6E8A-4147-A177-3AD203B41FA5}">
                      <a16:colId xmlns:a16="http://schemas.microsoft.com/office/drawing/2014/main" val="20012"/>
                    </a:ext>
                  </a:extLst>
                </a:gridCol>
                <a:gridCol w="510540">
                  <a:extLst>
                    <a:ext uri="{9D8B030D-6E8A-4147-A177-3AD203B41FA5}">
                      <a16:colId xmlns:a16="http://schemas.microsoft.com/office/drawing/2014/main" val="20013"/>
                    </a:ext>
                  </a:extLst>
                </a:gridCol>
                <a:gridCol w="509270">
                  <a:extLst>
                    <a:ext uri="{9D8B030D-6E8A-4147-A177-3AD203B41FA5}">
                      <a16:colId xmlns:a16="http://schemas.microsoft.com/office/drawing/2014/main" val="20014"/>
                    </a:ext>
                  </a:extLst>
                </a:gridCol>
                <a:gridCol w="509905">
                  <a:extLst>
                    <a:ext uri="{9D8B030D-6E8A-4147-A177-3AD203B41FA5}">
                      <a16:colId xmlns:a16="http://schemas.microsoft.com/office/drawing/2014/main" val="20015"/>
                    </a:ext>
                  </a:extLst>
                </a:gridCol>
                <a:gridCol w="510540">
                  <a:extLst>
                    <a:ext uri="{9D8B030D-6E8A-4147-A177-3AD203B41FA5}">
                      <a16:colId xmlns:a16="http://schemas.microsoft.com/office/drawing/2014/main" val="20016"/>
                    </a:ext>
                  </a:extLst>
                </a:gridCol>
              </a:tblGrid>
              <a:tr h="260350">
                <a:tc gridSpan="2">
                  <a:txBody>
                    <a:bodyPr/>
                    <a:lstStyle/>
                    <a:p>
                      <a:pPr algn="ctr"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a:tc>
                <a:tc gridSpan="7">
                  <a:txBody>
                    <a:bodyPr/>
                    <a:lstStyle/>
                    <a:p>
                      <a:pPr algn="ctr" fontAlgn="b">
                        <a:buNone/>
                      </a:pPr>
                      <a:r>
                        <a:rPr lang="en-US" altLang="zh-CN" sz="1000" b="1" i="0" u="none" strike="noStrike" dirty="0">
                          <a:solidFill>
                            <a:srgbClr val="000000"/>
                          </a:solidFill>
                          <a:effectLst/>
                          <a:latin typeface="等线" panose="02010600030101010101" pitchFamily="2" charset="-122"/>
                          <a:ea typeface="等线" panose="02010600030101010101" pitchFamily="2" charset="-122"/>
                        </a:rPr>
                        <a:t>2026</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gridSpan="8">
                  <a:txBody>
                    <a:bodyPr/>
                    <a:lstStyle/>
                    <a:p>
                      <a:pPr algn="ctr" fontAlgn="b">
                        <a:buNone/>
                      </a:pPr>
                      <a:r>
                        <a:rPr lang="en-US" altLang="zh-CN" sz="1000" b="1" i="0" u="none" strike="noStrike" dirty="0">
                          <a:solidFill>
                            <a:srgbClr val="000000"/>
                          </a:solidFill>
                          <a:effectLst/>
                          <a:latin typeface="等线" panose="02010600030101010101" pitchFamily="2" charset="-122"/>
                          <a:ea typeface="等线" panose="02010600030101010101" pitchFamily="2" charset="-122"/>
                        </a:rPr>
                        <a:t>2027</a:t>
                      </a: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60350">
                <a:tc gridSpan="2">
                  <a:txBody>
                    <a:bodyPr/>
                    <a:lstStyle/>
                    <a:p>
                      <a:pPr algn="ctr"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zh-CN"/>
                    </a:p>
                  </a:txBody>
                  <a:tcPr/>
                </a:tc>
                <a:tc>
                  <a:txBody>
                    <a:bodyPr/>
                    <a:lstStyle/>
                    <a:p>
                      <a:pPr algn="ctr" fontAlgn="b">
                        <a:buNone/>
                      </a:pPr>
                      <a:r>
                        <a:rPr lang="en-US" altLang="zh-CN" sz="1000" b="1" u="none" strike="noStrike" dirty="0">
                          <a:effectLst/>
                        </a:rPr>
                        <a:t>6</a:t>
                      </a:r>
                      <a:endParaRPr lang="en-US" altLang="zh-CN" sz="1000" b="1"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u="none" strike="noStrike" dirty="0">
                          <a:effectLst/>
                        </a:rPr>
                        <a:t>7</a:t>
                      </a:r>
                      <a:endParaRPr lang="en-US" altLang="zh-CN" sz="1000" b="1"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u="none" strike="noStrike" dirty="0">
                          <a:effectLst/>
                        </a:rPr>
                        <a:t>8</a:t>
                      </a:r>
                      <a:endParaRPr lang="en-US" altLang="zh-CN" sz="1000" b="1"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u="none" strike="noStrike" dirty="0">
                          <a:effectLst/>
                        </a:rPr>
                        <a:t>9</a:t>
                      </a:r>
                      <a:endParaRPr lang="en-US" altLang="zh-CN" sz="1000" b="1"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u="none" strike="noStrike" dirty="0">
                          <a:effectLst/>
                        </a:rPr>
                        <a:t>10</a:t>
                      </a:r>
                      <a:endParaRPr lang="en-US" altLang="zh-CN" sz="1000" b="1"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u="none" strike="noStrike" dirty="0">
                          <a:effectLst/>
                        </a:rPr>
                        <a:t>11</a:t>
                      </a:r>
                      <a:endParaRPr lang="en-US" altLang="zh-CN" sz="1000" b="1"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u="none" strike="noStrike" dirty="0">
                          <a:effectLst/>
                        </a:rPr>
                        <a:t>12</a:t>
                      </a:r>
                      <a:endParaRPr lang="en-US" altLang="zh-CN" sz="1000" b="1"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i="0" u="none" strike="noStrike" dirty="0">
                          <a:solidFill>
                            <a:srgbClr val="000000"/>
                          </a:solidFill>
                          <a:effectLst/>
                          <a:latin typeface="等线" panose="02010600030101010101" pitchFamily="2" charset="-122"/>
                          <a:ea typeface="等线" panose="02010600030101010101" pitchFamily="2" charset="-122"/>
                        </a:rPr>
                        <a:t>1</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i="0" u="none" strike="noStrike" dirty="0">
                          <a:solidFill>
                            <a:srgbClr val="000000"/>
                          </a:solidFill>
                          <a:effectLst/>
                          <a:latin typeface="等线" panose="02010600030101010101" pitchFamily="2" charset="-122"/>
                          <a:ea typeface="等线" panose="02010600030101010101" pitchFamily="2" charset="-122"/>
                        </a:rPr>
                        <a:t>2</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i="0" u="none" strike="noStrike" dirty="0">
                          <a:solidFill>
                            <a:srgbClr val="000000"/>
                          </a:solidFill>
                          <a:effectLst/>
                          <a:latin typeface="等线" panose="02010600030101010101" pitchFamily="2" charset="-122"/>
                          <a:ea typeface="等线" panose="02010600030101010101" pitchFamily="2" charset="-122"/>
                        </a:rPr>
                        <a:t>3</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u="none" strike="noStrike" dirty="0">
                          <a:effectLst/>
                        </a:rPr>
                        <a:t>4</a:t>
                      </a:r>
                      <a:endParaRPr lang="en-US" altLang="zh-CN" sz="1000" b="1"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i="0" u="none" strike="noStrike" dirty="0">
                          <a:solidFill>
                            <a:srgbClr val="000000"/>
                          </a:solidFill>
                          <a:effectLst/>
                          <a:latin typeface="等线" panose="02010600030101010101" pitchFamily="2" charset="-122"/>
                          <a:ea typeface="等线" panose="02010600030101010101" pitchFamily="2" charset="-122"/>
                        </a:rPr>
                        <a:t>5</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i="0" u="none" strike="noStrike" dirty="0">
                          <a:solidFill>
                            <a:srgbClr val="000000"/>
                          </a:solidFill>
                          <a:effectLst/>
                          <a:latin typeface="等线" panose="02010600030101010101" pitchFamily="2" charset="-122"/>
                          <a:ea typeface="等线" panose="02010600030101010101" pitchFamily="2" charset="-122"/>
                        </a:rPr>
                        <a:t>6</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i="0" u="none" strike="noStrike" dirty="0">
                          <a:solidFill>
                            <a:srgbClr val="000000"/>
                          </a:solidFill>
                          <a:effectLst/>
                          <a:latin typeface="等线" panose="02010600030101010101" pitchFamily="2" charset="-122"/>
                          <a:ea typeface="等线" panose="02010600030101010101" pitchFamily="2" charset="-122"/>
                        </a:rPr>
                        <a:t>7</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00" b="1" i="0" u="none" strike="noStrike" dirty="0">
                          <a:solidFill>
                            <a:srgbClr val="000000"/>
                          </a:solidFill>
                          <a:effectLst/>
                          <a:latin typeface="等线" panose="02010600030101010101" pitchFamily="2" charset="-122"/>
                          <a:ea typeface="等线" panose="02010600030101010101" pitchFamily="2" charset="-122"/>
                        </a:rPr>
                        <a:t>8</a:t>
                      </a: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3685">
                <a:tc rowSpan="5">
                  <a:txBody>
                    <a:bodyPr/>
                    <a:lstStyle/>
                    <a:p>
                      <a:pPr algn="ctr" fontAlgn="ctr">
                        <a:buNone/>
                      </a:pPr>
                      <a:r>
                        <a:rPr lang="en-US" altLang="zh-CN" sz="1050" b="0" u="none" strike="noStrike" dirty="0">
                          <a:effectLst/>
                          <a:latin typeface="楷体" panose="02010609060101010101" pitchFamily="49" charset="-122"/>
                          <a:ea typeface="楷体" panose="02010609060101010101" pitchFamily="49" charset="-122"/>
                        </a:rPr>
                        <a:t>CMC</a:t>
                      </a:r>
                      <a:endParaRPr lang="zh-CN" altLang="en-US" sz="1050" b="0" i="0" u="none" strike="noStrike" dirty="0">
                        <a:solidFill>
                          <a:srgbClr val="000000"/>
                        </a:solidFill>
                        <a:effectLst/>
                        <a:latin typeface="楷体" panose="02010609060101010101" pitchFamily="49" charset="-122"/>
                        <a:ea typeface="楷体" panose="02010609060101010101" pitchFamily="49" charset="-122"/>
                      </a:endParaRPr>
                    </a:p>
                  </a:txBody>
                  <a:tcPr marL="4785" marR="4785" marT="4785" marB="0"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50" kern="1200" dirty="0">
                          <a:solidFill>
                            <a:schemeClr val="dk1"/>
                          </a:solidFill>
                          <a:latin typeface="+mn-lt"/>
                          <a:ea typeface="+mn-ea"/>
                          <a:cs typeface="+mn-cs"/>
                        </a:rPr>
                        <a:t>salt types and crystal forms</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3050">
                <a:tc vMerge="1">
                  <a:txBody>
                    <a:bodyPr/>
                    <a:lstStyle/>
                    <a:p>
                      <a:endParaRPr lang="zh-CN"/>
                    </a:p>
                  </a:txBody>
                  <a:tcPr/>
                </a:tc>
                <a:tc>
                  <a:txBody>
                    <a:bodyPr/>
                    <a:lstStyle/>
                    <a:p>
                      <a:pPr algn="ctr" fontAlgn="b">
                        <a:buNone/>
                      </a:pPr>
                      <a:r>
                        <a:rPr lang="zh-CN" altLang="zh-CN" sz="1050" kern="1200" dirty="0">
                          <a:solidFill>
                            <a:schemeClr val="dk1"/>
                          </a:solidFill>
                          <a:latin typeface="+mn-lt"/>
                          <a:ea typeface="+mn-ea"/>
                          <a:cs typeface="+mn-cs"/>
                        </a:rPr>
                        <a:t>Process Optimization</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3050">
                <a:tc vMerge="1">
                  <a:txBody>
                    <a:bodyPr/>
                    <a:lstStyle/>
                    <a:p>
                      <a:endParaRPr lang="zh-CN"/>
                    </a:p>
                  </a:txBody>
                  <a:tcPr/>
                </a:tc>
                <a:tc>
                  <a:txBody>
                    <a:bodyPr/>
                    <a:lstStyle/>
                    <a:p>
                      <a:pPr algn="ctr" fontAlgn="b">
                        <a:buNone/>
                      </a:pPr>
                      <a:r>
                        <a:rPr lang="en-US" altLang="zh-CN" sz="1050" kern="1200" dirty="0">
                          <a:solidFill>
                            <a:schemeClr val="dk1"/>
                          </a:solidFill>
                          <a:latin typeface="+mn-lt"/>
                          <a:ea typeface="+mn-ea"/>
                          <a:cs typeface="+mn-cs"/>
                        </a:rPr>
                        <a:t>API</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r>
                        <a:rPr lang="zh-CN" altLang="en-US" sz="1000" u="none" strike="noStrike" kern="120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8765">
                <a:tc vMerge="1">
                  <a:txBody>
                    <a:bodyPr/>
                    <a:lstStyle/>
                    <a:p>
                      <a:endParaRPr lang="zh-CN"/>
                    </a:p>
                  </a:txBody>
                  <a:tcPr/>
                </a:tc>
                <a:tc>
                  <a:txBody>
                    <a:bodyPr/>
                    <a:lstStyle/>
                    <a:p>
                      <a:pPr marL="0" algn="ctr" defTabSz="914400" rtl="0" eaLnBrk="1" fontAlgn="b" latinLnBrk="0" hangingPunct="1">
                        <a:buNone/>
                      </a:pPr>
                      <a:r>
                        <a:rPr lang="en-US" altLang="zh-CN" sz="1050" kern="1200" dirty="0">
                          <a:solidFill>
                            <a:schemeClr val="dk1"/>
                          </a:solidFill>
                          <a:latin typeface="+mn-lt"/>
                          <a:ea typeface="+mn-ea"/>
                          <a:cs typeface="+mn-cs"/>
                        </a:rPr>
                        <a:t>Formulation Development</a:t>
                      </a:r>
                      <a:endParaRPr lang="zh-CN" altLang="en-US" sz="1050" kern="1200" dirty="0">
                        <a:solidFill>
                          <a:schemeClr val="dk1"/>
                        </a:solidFill>
                        <a:latin typeface="+mn-lt"/>
                        <a:ea typeface="+mn-ea"/>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r>
                        <a:rPr lang="zh-CN" altLang="en-US" sz="1000" u="none" strike="noStrike" kern="1200" dirty="0">
                          <a:solidFill>
                            <a:schemeClr val="accent6">
                              <a:lumMod val="40000"/>
                              <a:lumOff val="60000"/>
                            </a:schemeClr>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r>
                        <a:rPr lang="zh-CN" altLang="en-US" sz="1000" u="none" strike="noStrike" kern="1200" dirty="0">
                          <a:solidFill>
                            <a:schemeClr val="accent6">
                              <a:lumMod val="40000"/>
                              <a:lumOff val="60000"/>
                            </a:schemeClr>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r>
                        <a:rPr lang="zh-CN" altLang="en-US" sz="1000" u="none" strike="noStrike" kern="1200" dirty="0">
                          <a:solidFill>
                            <a:schemeClr val="accent6">
                              <a:lumMod val="40000"/>
                              <a:lumOff val="60000"/>
                            </a:schemeClr>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r>
                        <a:rPr lang="zh-CN" altLang="en-US" sz="1000" u="none" strike="noStrike" kern="1200" dirty="0">
                          <a:solidFill>
                            <a:schemeClr val="accent6">
                              <a:lumMod val="40000"/>
                              <a:lumOff val="60000"/>
                            </a:schemeClr>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3685">
                <a:tc vMerge="1">
                  <a:txBody>
                    <a:bodyPr/>
                    <a:lstStyle/>
                    <a:p>
                      <a:endParaRPr lang="zh-CN"/>
                    </a:p>
                  </a:txBody>
                  <a:tcPr marL="4785" marR="4785" marT="4785" marB="0"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zh-CN" altLang="zh-CN" sz="1050" kern="1200" dirty="0">
                          <a:solidFill>
                            <a:schemeClr val="dk1"/>
                          </a:solidFill>
                          <a:latin typeface="+mn-lt"/>
                          <a:ea typeface="+mn-ea"/>
                          <a:cs typeface="+mn-cs"/>
                        </a:rPr>
                        <a:t>Forced Degradation Studies</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6"/>
                  </a:ext>
                </a:extLst>
              </a:tr>
              <a:tr h="273050">
                <a:tc>
                  <a:txBody>
                    <a:bodyPr/>
                    <a:lstStyle/>
                    <a:p>
                      <a:pPr algn="ctr" fontAlgn="ctr">
                        <a:buNone/>
                      </a:pPr>
                      <a:r>
                        <a:rPr lang="en-US" altLang="zh-CN" sz="1050" b="0" i="0" u="none" strike="noStrike" dirty="0">
                          <a:solidFill>
                            <a:srgbClr val="000000"/>
                          </a:solidFill>
                          <a:effectLst/>
                          <a:latin typeface="楷体" panose="02010609060101010101" pitchFamily="49" charset="-122"/>
                          <a:ea typeface="楷体" panose="02010609060101010101" pitchFamily="49" charset="-122"/>
                        </a:rPr>
                        <a:t>pharmacology</a:t>
                      </a:r>
                      <a:endParaRPr lang="zh-CN" altLang="en-US" sz="1050" b="0" i="0" u="none" strike="noStrike" dirty="0">
                        <a:solidFill>
                          <a:srgbClr val="000000"/>
                        </a:solidFill>
                        <a:effectLst/>
                        <a:latin typeface="楷体" panose="02010609060101010101" pitchFamily="49" charset="-122"/>
                        <a:ea typeface="楷体" panose="02010609060101010101" pitchFamily="49" charset="-122"/>
                      </a:endParaRPr>
                    </a:p>
                  </a:txBody>
                  <a:tcPr marL="4785" marR="4785" marT="4785" marB="0"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50" kern="1200" dirty="0">
                          <a:solidFill>
                            <a:schemeClr val="dk1"/>
                          </a:solidFill>
                          <a:latin typeface="+mn-lt"/>
                          <a:ea typeface="+mn-ea"/>
                          <a:cs typeface="+mn-cs"/>
                        </a:rPr>
                        <a:t>efficacy</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chemeClr val="accent2">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chemeClr val="accent2">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endParaRPr lang="zh-CN" altLang="en-US" sz="1000" u="none" strike="noStrike" kern="1200" dirty="0">
                        <a:solidFill>
                          <a:schemeClr val="accent2">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endParaRPr lang="zh-CN" altLang="en-US" sz="1000" u="none" strike="noStrike" kern="1200" dirty="0">
                        <a:solidFill>
                          <a:schemeClr val="accent6">
                            <a:lumMod val="40000"/>
                            <a:lumOff val="60000"/>
                          </a:schemeClr>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59410">
                <a:tc rowSpan="3">
                  <a:txBody>
                    <a:bodyPr/>
                    <a:lstStyle/>
                    <a:p>
                      <a:pPr algn="ctr" fontAlgn="ctr">
                        <a:buNone/>
                      </a:pPr>
                      <a:r>
                        <a:rPr lang="en-US" sz="1050" b="0" u="none" strike="noStrike" dirty="0">
                          <a:effectLst/>
                          <a:latin typeface="楷体" panose="02010609060101010101" pitchFamily="49" charset="-122"/>
                          <a:ea typeface="楷体" panose="02010609060101010101" pitchFamily="49" charset="-122"/>
                        </a:rPr>
                        <a:t>ADME/PK</a:t>
                      </a:r>
                      <a:endParaRPr lang="en-US" sz="1050" b="0" i="0" u="none" strike="noStrike" dirty="0">
                        <a:solidFill>
                          <a:srgbClr val="000000"/>
                        </a:solidFill>
                        <a:effectLst/>
                        <a:latin typeface="楷体" panose="02010609060101010101" pitchFamily="49" charset="-122"/>
                        <a:ea typeface="楷体" panose="02010609060101010101" pitchFamily="49" charset="-122"/>
                      </a:endParaRPr>
                    </a:p>
                  </a:txBody>
                  <a:tcPr marL="4785" marR="4785" marT="4785" marB="0"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altLang="zh-CN" sz="1050" kern="1200" dirty="0">
                          <a:solidFill>
                            <a:schemeClr val="dk1"/>
                          </a:solidFill>
                          <a:latin typeface="+mn-lt"/>
                          <a:ea typeface="+mn-ea"/>
                          <a:cs typeface="+mn-cs"/>
                        </a:rPr>
                        <a:t>Analytical Method Development and validation</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solidFill>
                            <a:schemeClr val="accent6">
                              <a:lumMod val="40000"/>
                              <a:lumOff val="60000"/>
                            </a:schemeClr>
                          </a:solidFill>
                          <a:effectLst/>
                        </a:rPr>
                        <a:t>　</a:t>
                      </a:r>
                      <a:endParaRPr lang="zh-CN" altLang="en-US" sz="1000" b="0" i="0" u="none" strike="noStrike" dirty="0">
                        <a:solidFill>
                          <a:schemeClr val="accent6">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zh-CN" altLang="en-US" sz="1000" u="none" strike="noStrike" dirty="0">
                          <a:solidFill>
                            <a:schemeClr val="accent6">
                              <a:lumMod val="40000"/>
                              <a:lumOff val="60000"/>
                            </a:schemeClr>
                          </a:solidFill>
                          <a:effectLst/>
                        </a:rPr>
                        <a:t>　</a:t>
                      </a:r>
                      <a:endParaRPr lang="zh-CN" altLang="en-US" sz="1000" b="0" i="0" u="none" strike="noStrike" dirty="0">
                        <a:solidFill>
                          <a:schemeClr val="accent6">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zh-CN" altLang="en-US" sz="1000" u="none" strike="noStrike" dirty="0">
                          <a:solidFill>
                            <a:schemeClr val="accent6">
                              <a:lumMod val="40000"/>
                              <a:lumOff val="60000"/>
                            </a:schemeClr>
                          </a:solidFill>
                          <a:effectLst/>
                        </a:rPr>
                        <a:t>　</a:t>
                      </a:r>
                      <a:endParaRPr lang="zh-CN" altLang="en-US" sz="1000" b="0" i="0" u="none" strike="noStrike" dirty="0">
                        <a:solidFill>
                          <a:schemeClr val="accent6">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73050">
                <a:tc vMerge="1">
                  <a:txBody>
                    <a:bodyPr/>
                    <a:lstStyle/>
                    <a:p>
                      <a:endParaRPr lang="zh-CN"/>
                    </a:p>
                  </a:txBody>
                  <a:tcPr/>
                </a:tc>
                <a:tc>
                  <a:txBody>
                    <a:bodyPr/>
                    <a:lstStyle/>
                    <a:p>
                      <a:pPr algn="ctr" fontAlgn="b">
                        <a:buNone/>
                      </a:pPr>
                      <a:r>
                        <a:rPr lang="en-US" altLang="zh-CN" sz="1050" kern="1200" dirty="0">
                          <a:solidFill>
                            <a:schemeClr val="dk1"/>
                          </a:solidFill>
                          <a:latin typeface="+mn-lt"/>
                          <a:ea typeface="+mn-ea"/>
                          <a:cs typeface="+mn-cs"/>
                        </a:rPr>
                        <a:t>ADME</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chemeClr val="accent6">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chemeClr val="accent6">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chemeClr val="accent6">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73050">
                <a:tc vMerge="1">
                  <a:txBody>
                    <a:bodyPr/>
                    <a:lstStyle/>
                    <a:p>
                      <a:endParaRPr lang="zh-CN"/>
                    </a:p>
                  </a:txBody>
                  <a:tcPr>
                    <a:lnT w="6350" cap="flat" cmpd="sng" algn="ctr">
                      <a:solidFill>
                        <a:schemeClr val="tx1"/>
                      </a:solidFill>
                      <a:prstDash val="solid"/>
                      <a:round/>
                      <a:headEnd type="none" w="med" len="med"/>
                      <a:tailEnd type="none" w="med" len="med"/>
                    </a:lnT>
                  </a:tcPr>
                </a:tc>
                <a:tc>
                  <a:txBody>
                    <a:bodyPr/>
                    <a:lstStyle/>
                    <a:p>
                      <a:pPr marL="0" marR="0" lvl="0" indent="0" algn="ctr" defTabSz="685800" rtl="0" eaLnBrk="1" fontAlgn="b" latinLnBrk="0" hangingPunct="1">
                        <a:lnSpc>
                          <a:spcPct val="100000"/>
                        </a:lnSpc>
                        <a:spcBef>
                          <a:spcPts val="0"/>
                        </a:spcBef>
                        <a:spcAft>
                          <a:spcPts val="0"/>
                        </a:spcAft>
                        <a:buClrTx/>
                        <a:buSzTx/>
                        <a:buFontTx/>
                        <a:buNone/>
                        <a:defRPr/>
                      </a:pPr>
                      <a:r>
                        <a:rPr lang="en-US" altLang="zh-CN" sz="1050" kern="1200" dirty="0">
                          <a:solidFill>
                            <a:schemeClr val="dk1"/>
                          </a:solidFill>
                          <a:latin typeface="+mn-lt"/>
                          <a:ea typeface="+mn-ea"/>
                          <a:cs typeface="+mn-cs"/>
                        </a:rPr>
                        <a:t>PK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highlight>
                            <a:srgbClr val="FFFF00"/>
                          </a:highlight>
                        </a:rPr>
                        <a:t>　</a:t>
                      </a:r>
                      <a:endParaRPr lang="zh-CN" altLang="en-US" sz="1000" b="0" i="0" u="none" strike="noStrike" dirty="0">
                        <a:solidFill>
                          <a:srgbClr val="000000"/>
                        </a:solidFill>
                        <a:effectLst/>
                        <a:highlight>
                          <a:srgbClr val="FFFF00"/>
                        </a:highligh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zh-CN" altLang="en-US" sz="1000" u="none" strike="noStrike" dirty="0">
                          <a:effectLst/>
                          <a:highlight>
                            <a:srgbClr val="FFFF00"/>
                          </a:highlight>
                        </a:rPr>
                        <a:t>　</a:t>
                      </a:r>
                      <a:endParaRPr lang="zh-CN" altLang="en-US" sz="1000" b="0" i="0" u="none" strike="noStrike" dirty="0">
                        <a:solidFill>
                          <a:srgbClr val="000000"/>
                        </a:solidFill>
                        <a:effectLst/>
                        <a:highlight>
                          <a:srgbClr val="FFFF00"/>
                        </a:highligh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73050">
                <a:tc rowSpan="3">
                  <a:txBody>
                    <a:bodyPr/>
                    <a:lstStyle/>
                    <a:p>
                      <a:pPr algn="ctr" fontAlgn="ctr">
                        <a:buNone/>
                      </a:pPr>
                      <a:r>
                        <a:rPr lang="en-US" altLang="zh-CN" sz="1050" b="0" u="none" strike="noStrike" dirty="0">
                          <a:effectLst/>
                          <a:latin typeface="楷体" panose="02010609060101010101" pitchFamily="49" charset="-122"/>
                          <a:ea typeface="楷体" panose="02010609060101010101" pitchFamily="49" charset="-122"/>
                        </a:rPr>
                        <a:t>Tox</a:t>
                      </a:r>
                      <a:endParaRPr lang="zh-CN" altLang="en-US" sz="1050" b="0" i="0" u="none" strike="noStrike" dirty="0">
                        <a:solidFill>
                          <a:srgbClr val="000000"/>
                        </a:solidFill>
                        <a:effectLst/>
                        <a:latin typeface="楷体" panose="02010609060101010101" pitchFamily="49" charset="-122"/>
                        <a:ea typeface="楷体" panose="02010609060101010101" pitchFamily="49" charset="-122"/>
                      </a:endParaRPr>
                    </a:p>
                  </a:txBody>
                  <a:tcPr marL="4785" marR="4785" marT="4785" marB="0"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zh-CN" altLang="zh-CN" sz="1050" kern="1200" dirty="0">
                          <a:solidFill>
                            <a:schemeClr val="dk1"/>
                          </a:solidFill>
                          <a:latin typeface="+mn-lt"/>
                          <a:ea typeface="+mn-ea"/>
                          <a:cs typeface="+mn-cs"/>
                        </a:rPr>
                        <a:t>Acute Toxicity Study</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highlight>
                            <a:srgbClr val="FFFF00"/>
                          </a:highlight>
                        </a:rPr>
                        <a:t>　</a:t>
                      </a:r>
                      <a:endParaRPr lang="zh-CN" altLang="en-US" sz="1000" b="0" i="0" u="none" strike="noStrike" dirty="0">
                        <a:solidFill>
                          <a:srgbClr val="000000"/>
                        </a:solidFill>
                        <a:effectLst/>
                        <a:highlight>
                          <a:srgbClr val="FFFF00"/>
                        </a:highligh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zh-CN" altLang="en-US" sz="1000" u="none" strike="noStrike" dirty="0">
                          <a:effectLst/>
                          <a:highlight>
                            <a:srgbClr val="FFFF00"/>
                          </a:highlight>
                        </a:rPr>
                        <a:t>　</a:t>
                      </a:r>
                      <a:endParaRPr lang="zh-CN" altLang="en-US" sz="1000" b="0" i="0" u="none" strike="noStrike" dirty="0">
                        <a:solidFill>
                          <a:srgbClr val="000000"/>
                        </a:solidFill>
                        <a:effectLst/>
                        <a:highlight>
                          <a:srgbClr val="FFFF00"/>
                        </a:highligh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zh-CN" altLang="en-US" sz="1000" u="none" strike="noStrike" dirty="0">
                          <a:solidFill>
                            <a:schemeClr val="accent2">
                              <a:lumMod val="40000"/>
                              <a:lumOff val="60000"/>
                            </a:schemeClr>
                          </a:solidFill>
                          <a:effectLst/>
                          <a:highlight>
                            <a:srgbClr val="FFFF00"/>
                          </a:highlight>
                        </a:rPr>
                        <a:t>　</a:t>
                      </a:r>
                      <a:endParaRPr lang="zh-CN" altLang="en-US" sz="1000" b="0" i="0" u="none" strike="noStrike" dirty="0">
                        <a:solidFill>
                          <a:schemeClr val="accent2">
                            <a:lumMod val="40000"/>
                            <a:lumOff val="60000"/>
                          </a:schemeClr>
                        </a:solidFill>
                        <a:effectLst/>
                        <a:highlight>
                          <a:srgbClr val="FFFF00"/>
                        </a:highligh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solidFill>
                            <a:schemeClr val="accent2">
                              <a:lumMod val="40000"/>
                              <a:lumOff val="60000"/>
                            </a:schemeClr>
                          </a:solidFill>
                          <a:effectLst/>
                        </a:rPr>
                        <a:t>　</a:t>
                      </a:r>
                      <a:endParaRPr lang="zh-CN" altLang="en-US" sz="1000" b="0" i="0" u="none" strike="noStrike" dirty="0">
                        <a:solidFill>
                          <a:schemeClr val="accent2">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solidFill>
                            <a:schemeClr val="accent2">
                              <a:lumMod val="40000"/>
                              <a:lumOff val="60000"/>
                            </a:schemeClr>
                          </a:solidFill>
                          <a:effectLst/>
                        </a:rPr>
                        <a:t>　</a:t>
                      </a:r>
                      <a:endParaRPr lang="zh-CN" altLang="en-US" sz="1000" b="0" i="0" u="none" strike="noStrike" dirty="0">
                        <a:solidFill>
                          <a:schemeClr val="accent2">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solidFill>
                            <a:schemeClr val="accent2">
                              <a:lumMod val="40000"/>
                              <a:lumOff val="60000"/>
                            </a:schemeClr>
                          </a:solidFill>
                          <a:effectLst/>
                        </a:rPr>
                        <a:t>　</a:t>
                      </a:r>
                      <a:endParaRPr lang="zh-CN" altLang="en-US" sz="1000" b="0" i="0" u="none" strike="noStrike" dirty="0">
                        <a:solidFill>
                          <a:schemeClr val="accent2">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solidFill>
                            <a:schemeClr val="accent2">
                              <a:lumMod val="40000"/>
                              <a:lumOff val="60000"/>
                            </a:schemeClr>
                          </a:solidFill>
                          <a:effectLst/>
                        </a:rPr>
                        <a:t>　</a:t>
                      </a:r>
                      <a:endParaRPr lang="zh-CN" altLang="en-US" sz="1000" b="0" i="0" u="none" strike="noStrike" dirty="0">
                        <a:solidFill>
                          <a:schemeClr val="accent2">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solidFill>
                            <a:schemeClr val="accent2">
                              <a:lumMod val="40000"/>
                              <a:lumOff val="60000"/>
                            </a:schemeClr>
                          </a:solidFill>
                          <a:effectLst/>
                        </a:rPr>
                        <a:t>　</a:t>
                      </a:r>
                      <a:endParaRPr lang="zh-CN" altLang="en-US" sz="1000" b="0" i="0" u="none" strike="noStrike" dirty="0">
                        <a:solidFill>
                          <a:schemeClr val="accent2">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6858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6858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6858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6858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6858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74320">
                <a:tc vMerge="1">
                  <a:txBody>
                    <a:bodyPr/>
                    <a:lstStyle/>
                    <a:p>
                      <a:endParaRPr lang="zh-CN"/>
                    </a:p>
                  </a:txBody>
                  <a:tcPr/>
                </a:tc>
                <a:tc>
                  <a:txBody>
                    <a:bodyPr/>
                    <a:lstStyle/>
                    <a:p>
                      <a:pPr algn="ctr" fontAlgn="b">
                        <a:buNone/>
                      </a:pPr>
                      <a:r>
                        <a:rPr lang="zh-CN" altLang="zh-CN" sz="1050" kern="1200" dirty="0">
                          <a:solidFill>
                            <a:schemeClr val="dk1"/>
                          </a:solidFill>
                          <a:latin typeface="+mn-lt"/>
                          <a:ea typeface="+mn-ea"/>
                          <a:cs typeface="+mn-cs"/>
                        </a:rPr>
                        <a:t>Long-term Toxicity</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algn="l" defTabSz="685800" rtl="0" eaLnBrk="1" fontAlgn="b" latinLnBrk="0" hangingPunct="1">
                        <a:buNone/>
                      </a:pPr>
                      <a:r>
                        <a:rPr lang="zh-CN" altLang="en-US" sz="1000" u="none" strike="noStrike" kern="1200" dirty="0">
                          <a:solidFill>
                            <a:schemeClr val="dk1"/>
                          </a:solidFill>
                          <a:effectLst/>
                          <a:latin typeface="+mn-lt"/>
                          <a:ea typeface="+mn-ea"/>
                          <a:cs typeface="+mn-cs"/>
                        </a:rPr>
                        <a:t>　</a:t>
                      </a: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6858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6858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6858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l" defTabSz="685800" rtl="0" eaLnBrk="1" fontAlgn="b" latinLnBrk="0" hangingPunct="1">
                        <a:buNone/>
                      </a:pPr>
                      <a:endParaRPr lang="zh-CN" altLang="en-US" sz="1000" u="none" strike="noStrike" kern="1200" dirty="0">
                        <a:solidFill>
                          <a:schemeClr val="dk1"/>
                        </a:solidFill>
                        <a:effectLst/>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70510">
                <a:tc vMerge="1">
                  <a:txBody>
                    <a:bodyPr/>
                    <a:lstStyle/>
                    <a:p>
                      <a:endParaRPr lang="zh-CN"/>
                    </a:p>
                  </a:txBody>
                  <a:tcPr/>
                </a:tc>
                <a:tc>
                  <a:txBody>
                    <a:bodyPr/>
                    <a:lstStyle/>
                    <a:p>
                      <a:pPr algn="ctr" fontAlgn="b">
                        <a:buNone/>
                      </a:pPr>
                      <a:r>
                        <a:rPr lang="en-US" altLang="zh-CN" sz="1050" kern="1200" dirty="0" err="1">
                          <a:solidFill>
                            <a:schemeClr val="dk1"/>
                          </a:solidFill>
                          <a:latin typeface="+mn-lt"/>
                          <a:ea typeface="+mn-ea"/>
                          <a:cs typeface="+mn-cs"/>
                        </a:rPr>
                        <a:t>etc</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73050">
                <a:tc rowSpan="3">
                  <a:txBody>
                    <a:bodyPr/>
                    <a:lstStyle/>
                    <a:p>
                      <a:pPr algn="ctr" fontAlgn="ctr">
                        <a:buNone/>
                      </a:pPr>
                      <a:r>
                        <a:rPr lang="zh-CN" altLang="zh-CN" sz="1050" dirty="0"/>
                        <a:t>Safety Pharmacology</a:t>
                      </a:r>
                      <a:endParaRPr lang="zh-CN" altLang="en-US" sz="1050" b="0" i="0" u="none" strike="noStrike" dirty="0">
                        <a:solidFill>
                          <a:srgbClr val="000000"/>
                        </a:solidFill>
                        <a:effectLst/>
                        <a:latin typeface="楷体" panose="02010609060101010101" pitchFamily="49" charset="-122"/>
                        <a:ea typeface="楷体" panose="02010609060101010101" pitchFamily="49" charset="-122"/>
                      </a:endParaRPr>
                    </a:p>
                  </a:txBody>
                  <a:tcPr marL="4785" marR="4785" marT="4785" marB="0"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zh-CN" altLang="zh-CN" sz="1050" kern="1200" dirty="0">
                          <a:solidFill>
                            <a:schemeClr val="dk1"/>
                          </a:solidFill>
                          <a:latin typeface="+mn-lt"/>
                          <a:ea typeface="+mn-ea"/>
                          <a:cs typeface="+mn-cs"/>
                        </a:rPr>
                        <a:t>CNS</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73050">
                <a:tc vMerge="1">
                  <a:txBody>
                    <a:bodyPr/>
                    <a:lstStyle/>
                    <a:p>
                      <a:endParaRPr lang="zh-CN"/>
                    </a:p>
                  </a:txBody>
                  <a:tcPr/>
                </a:tc>
                <a:tc>
                  <a:txBody>
                    <a:bodyPr/>
                    <a:lstStyle/>
                    <a:p>
                      <a:pPr algn="ctr" fontAlgn="b">
                        <a:buNone/>
                      </a:pPr>
                      <a:r>
                        <a:rPr lang="zh-CN" altLang="zh-CN" sz="1050" kern="1200" dirty="0">
                          <a:solidFill>
                            <a:schemeClr val="dk1"/>
                          </a:solidFill>
                          <a:latin typeface="+mn-lt"/>
                          <a:ea typeface="+mn-ea"/>
                          <a:cs typeface="+mn-cs"/>
                        </a:rPr>
                        <a:t>Respiratory System</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272415">
                <a:tc vMerge="1">
                  <a:txBody>
                    <a:bodyPr/>
                    <a:lstStyle/>
                    <a:p>
                      <a:endParaRPr lang="zh-CN"/>
                    </a:p>
                  </a:txBody>
                  <a:tcPr/>
                </a:tc>
                <a:tc>
                  <a:txBody>
                    <a:bodyPr/>
                    <a:lstStyle/>
                    <a:p>
                      <a:pPr algn="ctr" fontAlgn="b">
                        <a:buNone/>
                      </a:pPr>
                      <a:r>
                        <a:rPr lang="zh-CN" altLang="zh-CN" sz="1050" kern="1200" dirty="0">
                          <a:solidFill>
                            <a:schemeClr val="dk1"/>
                          </a:solidFill>
                          <a:latin typeface="+mn-lt"/>
                          <a:ea typeface="+mn-ea"/>
                          <a:cs typeface="+mn-cs"/>
                        </a:rPr>
                        <a:t>Cardiovascular System</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273685">
                <a:tc>
                  <a:txBody>
                    <a:bodyPr/>
                    <a:lstStyle/>
                    <a:p>
                      <a:pPr algn="ctr" fontAlgn="ctr">
                        <a:buNone/>
                      </a:pPr>
                      <a:r>
                        <a:rPr lang="en-US" altLang="zh-CN" sz="1050" b="0" i="0" u="none" strike="noStrike" dirty="0">
                          <a:solidFill>
                            <a:srgbClr val="000000"/>
                          </a:solidFill>
                          <a:effectLst/>
                          <a:latin typeface="楷体" panose="02010609060101010101" pitchFamily="49" charset="-122"/>
                          <a:ea typeface="楷体" panose="02010609060101010101" pitchFamily="49" charset="-122"/>
                        </a:rPr>
                        <a:t>clinical</a:t>
                      </a:r>
                      <a:endParaRPr lang="zh-CN" altLang="en-US" sz="1050" b="0" i="0" u="none" strike="noStrike" dirty="0">
                        <a:solidFill>
                          <a:srgbClr val="000000"/>
                        </a:solidFill>
                        <a:effectLst/>
                        <a:latin typeface="楷体" panose="02010609060101010101" pitchFamily="49" charset="-122"/>
                        <a:ea typeface="楷体" panose="02010609060101010101" pitchFamily="49" charset="-122"/>
                      </a:endParaRPr>
                    </a:p>
                  </a:txBody>
                  <a:tcPr marL="4785" marR="4785" marT="4785" marB="0"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zh-CN" altLang="zh-CN" sz="1050" kern="1200" dirty="0">
                          <a:solidFill>
                            <a:schemeClr val="dk1"/>
                          </a:solidFill>
                          <a:latin typeface="+mn-lt"/>
                          <a:ea typeface="+mn-ea"/>
                          <a:cs typeface="+mn-cs"/>
                        </a:rPr>
                        <a:t>Protocol Drafting</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273050">
                <a:tc>
                  <a:txBody>
                    <a:bodyPr/>
                    <a:lstStyle/>
                    <a:p>
                      <a:pPr algn="ctr" fontAlgn="ctr">
                        <a:buNone/>
                      </a:pPr>
                      <a:r>
                        <a:rPr lang="zh-CN" altLang="zh-CN" sz="1050" dirty="0"/>
                        <a:t>Regulatory Affairs</a:t>
                      </a:r>
                      <a:endParaRPr lang="zh-CN" altLang="en-US" sz="1050" b="0" i="0" u="none" strike="noStrike" dirty="0">
                        <a:solidFill>
                          <a:srgbClr val="000000"/>
                        </a:solidFill>
                        <a:effectLst/>
                        <a:latin typeface="楷体" panose="02010609060101010101" pitchFamily="49" charset="-122"/>
                        <a:ea typeface="楷体" panose="02010609060101010101" pitchFamily="49" charset="-122"/>
                      </a:endParaRPr>
                    </a:p>
                  </a:txBody>
                  <a:tcPr marL="4785" marR="4785" marT="4785" marB="0"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buNone/>
                      </a:pPr>
                      <a:r>
                        <a:rPr lang="en-US" altLang="zh-CN" sz="1050" kern="1200" dirty="0">
                          <a:solidFill>
                            <a:schemeClr val="dk1"/>
                          </a:solidFill>
                          <a:latin typeface="+mn-lt"/>
                          <a:ea typeface="+mn-ea"/>
                          <a:cs typeface="+mn-cs"/>
                        </a:rPr>
                        <a:t>IB, </a:t>
                      </a:r>
                      <a:r>
                        <a:rPr lang="zh-CN" altLang="zh-CN" sz="1050" kern="1200" dirty="0">
                          <a:solidFill>
                            <a:schemeClr val="dk1"/>
                          </a:solidFill>
                          <a:latin typeface="+mn-lt"/>
                          <a:ea typeface="+mn-ea"/>
                          <a:cs typeface="+mn-cs"/>
                        </a:rPr>
                        <a:t>CMC sections</a:t>
                      </a:r>
                      <a:r>
                        <a:rPr lang="en-US" altLang="zh-CN" sz="1050" kern="1200" dirty="0">
                          <a:solidFill>
                            <a:schemeClr val="dk1"/>
                          </a:solidFill>
                          <a:latin typeface="+mn-lt"/>
                          <a:ea typeface="+mn-ea"/>
                          <a:cs typeface="+mn-cs"/>
                        </a:rPr>
                        <a:t>, Non-clinical</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chemeClr val="accent6">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chemeClr val="accent6">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r h="273050">
                <a:tc>
                  <a:txBody>
                    <a:bodyPr/>
                    <a:lstStyle/>
                    <a:p>
                      <a:pPr algn="ctr" fontAlgn="b">
                        <a:buNone/>
                      </a:pPr>
                      <a:r>
                        <a:rPr lang="en-US" sz="1050" b="0" u="none" strike="noStrike" dirty="0">
                          <a:effectLst/>
                          <a:latin typeface="楷体" panose="02010609060101010101" pitchFamily="49" charset="-122"/>
                          <a:ea typeface="楷体" panose="02010609060101010101" pitchFamily="49" charset="-122"/>
                        </a:rPr>
                        <a:t>IND</a:t>
                      </a:r>
                      <a:endParaRPr lang="en-US" sz="1050" b="0" i="0" u="none" strike="noStrike" dirty="0">
                        <a:solidFill>
                          <a:srgbClr val="000000"/>
                        </a:solidFill>
                        <a:effectLst/>
                        <a:latin typeface="楷体" panose="02010609060101010101" pitchFamily="49" charset="-122"/>
                        <a:ea typeface="楷体" panose="02010609060101010101" pitchFamily="49" charset="-122"/>
                      </a:endParaRPr>
                    </a:p>
                  </a:txBody>
                  <a:tcPr marL="4785" marR="4785" marT="4785" marB="0" anchor="b">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b">
                        <a:buNone/>
                      </a:pPr>
                      <a:r>
                        <a:rPr lang="zh-CN" altLang="en-US" sz="1050" kern="1200" dirty="0">
                          <a:solidFill>
                            <a:schemeClr val="dk1"/>
                          </a:solidFill>
                          <a:latin typeface="+mn-lt"/>
                          <a:ea typeface="+mn-ea"/>
                          <a:cs typeface="+mn-cs"/>
                        </a:rPr>
                        <a:t>　</a:t>
                      </a:r>
                      <a:r>
                        <a:rPr lang="en-US" altLang="zh-CN" sz="1050" kern="1200" dirty="0">
                          <a:solidFill>
                            <a:schemeClr val="dk1"/>
                          </a:solidFill>
                          <a:latin typeface="+mn-lt"/>
                          <a:ea typeface="+mn-ea"/>
                          <a:cs typeface="+mn-cs"/>
                        </a:rPr>
                        <a:t>FDA &amp; NMPA</a:t>
                      </a:r>
                      <a:endParaRPr lang="zh-CN" altLang="en-US" sz="1050" kern="1200" dirty="0">
                        <a:solidFill>
                          <a:schemeClr val="dk1"/>
                        </a:solidFill>
                        <a:latin typeface="+mn-lt"/>
                        <a:ea typeface="+mn-ea"/>
                        <a:cs typeface="+mn-cs"/>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buNone/>
                      </a:pPr>
                      <a:r>
                        <a:rPr lang="zh-CN" altLang="en-US" sz="1000" u="none" strike="noStrike" dirty="0">
                          <a:solidFill>
                            <a:schemeClr val="accent6">
                              <a:lumMod val="40000"/>
                              <a:lumOff val="60000"/>
                            </a:schemeClr>
                          </a:solidFill>
                          <a:effectLst/>
                        </a:rPr>
                        <a:t>　</a:t>
                      </a:r>
                      <a:endParaRPr lang="zh-CN" altLang="en-US" sz="1000" b="0" i="0" u="none" strike="noStrike" dirty="0">
                        <a:solidFill>
                          <a:schemeClr val="accent6">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buNone/>
                      </a:pPr>
                      <a:endParaRPr lang="zh-CN" altLang="en-US" sz="1000" b="0" i="0" u="none" strike="noStrike" dirty="0">
                        <a:solidFill>
                          <a:schemeClr val="accent6">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l" fontAlgn="b">
                        <a:buNone/>
                      </a:pPr>
                      <a:endParaRPr lang="zh-CN" altLang="en-US" sz="1000" b="0" i="0" u="none" strike="noStrike" dirty="0">
                        <a:solidFill>
                          <a:schemeClr val="accent6">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algn="l" fontAlgn="b">
                        <a:buNone/>
                      </a:pPr>
                      <a:endParaRPr lang="zh-CN" altLang="en-US" sz="1000" b="0" i="0" u="none" strike="noStrike" dirty="0">
                        <a:solidFill>
                          <a:schemeClr val="accent6">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algn="l" fontAlgn="b">
                        <a:buNone/>
                      </a:pPr>
                      <a:endParaRPr lang="zh-CN" altLang="en-US" sz="1000" b="0" i="0" u="none" strike="noStrike" dirty="0">
                        <a:solidFill>
                          <a:schemeClr val="accent6">
                            <a:lumMod val="40000"/>
                            <a:lumOff val="60000"/>
                          </a:schemeClr>
                        </a:solidFill>
                        <a:effectLst/>
                        <a:latin typeface="等线" panose="02010600030101010101" pitchFamily="2" charset="-122"/>
                        <a:ea typeface="等线" panose="02010600030101010101" pitchFamily="2" charset="-122"/>
                      </a:endParaRPr>
                    </a:p>
                  </a:txBody>
                  <a:tcPr marL="4785" marR="4785" marT="4785" marB="0" anchor="b">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19"/>
                  </a:ext>
                </a:extLst>
              </a:tr>
            </a:tbl>
          </a:graphicData>
        </a:graphic>
      </p:graphicFrame>
      <p:sp>
        <p:nvSpPr>
          <p:cNvPr id="6" name="文本框 5"/>
          <p:cNvSpPr txBox="1"/>
          <p:nvPr/>
        </p:nvSpPr>
        <p:spPr>
          <a:xfrm>
            <a:off x="508492" y="321066"/>
            <a:ext cx="6096000" cy="368300"/>
          </a:xfrm>
          <a:prstGeom prst="rect">
            <a:avLst/>
          </a:prstGeom>
          <a:noFill/>
        </p:spPr>
        <p:txBody>
          <a:bodyPr wrap="square">
            <a:spAutoFit/>
          </a:bodyPr>
          <a:lstStyle/>
          <a:p>
            <a:r>
              <a:rPr lang="en-US" altLang="zh-CN" b="1" kern="100" dirty="0">
                <a:effectLst/>
                <a:latin typeface="等线" panose="02010600030101010101" pitchFamily="2" charset="-122"/>
                <a:ea typeface="等线" panose="02010600030101010101" pitchFamily="2" charset="-122"/>
                <a:cs typeface="Times New Roman" panose="02020603050405020304" pitchFamily="18" charset="0"/>
              </a:rPr>
              <a:t>Development timeline</a:t>
            </a:r>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80*435"/>
  <p:tag name="TABLE_ENDDRAG_RECT" val="40*74*880*43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57fdf63b-7e22-45a3-83dc-d37003163aae}" enabled="0" method="" siteId="{57fdf63b-7e22-45a3-83dc-d37003163aae}" removed="1"/>
</clbl:labelList>
</file>

<file path=docProps/app.xml><?xml version="1.0" encoding="utf-8"?>
<Properties xmlns="http://schemas.openxmlformats.org/officeDocument/2006/extended-properties" xmlns:vt="http://schemas.openxmlformats.org/officeDocument/2006/docPropsVTypes">
  <TotalTime>4</TotalTime>
  <Words>817</Words>
  <Application>Microsoft Office PowerPoint</Application>
  <PresentationFormat>Widescreen</PresentationFormat>
  <Paragraphs>241</Paragraphs>
  <Slides>5</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vt:i4>
      </vt:variant>
    </vt:vector>
  </HeadingPairs>
  <TitlesOfParts>
    <vt:vector size="12" baseType="lpstr">
      <vt:lpstr>楷体</vt:lpstr>
      <vt:lpstr>等线</vt:lpstr>
      <vt:lpstr>等线 Light</vt:lpstr>
      <vt:lpstr>Arial</vt:lpstr>
      <vt:lpstr>Times New Roman</vt:lpstr>
      <vt:lpstr>Office 主题​​</vt:lpstr>
      <vt:lpstr>1_Office 主题​​</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 Ao</dc:creator>
  <cp:lastModifiedBy>Ling, Yan</cp:lastModifiedBy>
  <cp:revision>3</cp:revision>
  <dcterms:created xsi:type="dcterms:W3CDTF">2026-06-12T03:22:00Z</dcterms:created>
  <dcterms:modified xsi:type="dcterms:W3CDTF">2026-06-18T12:22:21Z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EAE9375973024202BEE5DB011F4C86E6_13</vt:lpwstr>
  </property>
</Properties>
</file>